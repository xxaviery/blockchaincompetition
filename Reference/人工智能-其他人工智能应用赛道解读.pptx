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8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9" r:id="rId20"/>
    <p:sldId id="271" r:id="rId21"/>
    <p:sldId id="272" r:id="rId22"/>
    <p:sldId id="273" r:id="rId23"/>
    <p:sldId id="26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59" userDrawn="1">
          <p15:clr>
            <a:srgbClr val="747775"/>
          </p15:clr>
        </p15:guide>
        <p15:guide id="2" pos="289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59"/>
        <p:guide pos="289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“第3届全国大学生数智链应用大赛——其他人工智能赛道”的解读会。本次大赛旨在推动高校数智链领域的人才培养，为同学们提供一个展示创新能力的平台。今天，我们将重点解读“其他人工智能应用”这一赛道的参赛要求、评审标准以及选题建议，希望能帮助大家更好地准备参赛作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解读将分为五个部分。首先，我们会简单介绍大赛的背景和“其他人工智能应用”赛道的定位。接着，也是本次分享的重点，我们将深度解析评审标准的各个维度。之后，我们会探讨参赛类别并提供一些选题建议。同时，我们也会给出关于作品呈现和答辩的实用技巧。最后进行总结，并预祝大家在比赛中取得优异成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了解一下大赛的基本情况。本次大赛是第三届全国大学生数智链应用大赛，旨在推动数智链领域的人才培养。参赛对象非常广泛，涵盖了各类高校学生。我们今天聚焦的“其他人工智能应用”赛道，是人工智能大类下的一个重要组成部分。它的核心定位是开放和创新，为大家提供了一个广阔的舞台，去探索AI技术在各个领域的应用可能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看一下评审标准的整体框架。总分100分，主要分为四大块。其中，“技术方案与实现”占比最高，达到35%，这说明大赛非常看重技术的创新性和实现能力。其次是“作品选题与定位”，占30%，强调了选题的重要性。“功能效果与价值”和“作品呈现与答辩”分别占20%和15%，也都是需要重点关注的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我们先来看第一个指标：作品选题与定位。这部分占30分，非常关键。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首先，选题主题要明确、新颖、有针对性。题目要清晰，让人一眼就能明白作品要解决什么问题。同时，要有新意，避免重复已有的解决方案，并且要针对具体的、真实存在的痛点。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选题定位要接地气，来源于实际，并且要体现AI的思想和创新性。作品不能脱离实际，要能落地。无论是解决专业学习中的问题，还是社会生活中的需求，都要体现出AI的核心思想，并且在某个方面要有创新点，比如提出了新的应用场景，或者采用了新的技术路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一个好的选题是成功的一半，大家在构思作品时，一定要仔细打磨自己的选题。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占比最高的“技术方案与实现”部分，共35分。这部分主要考察三个方面：技术先进性、方案完整性和工作量与难度。大家在设计技术方案时，要力求创新，确保方案的完整性和逻辑性，同时也要保证作品有足够的工作量和适当的技术难度，充分展示自己的专业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“功能效果与价值”，占20分。这部分关注的是作品的实际表现和价值。功能要完备，运行要稳定，界面要友好，并且最重要的是要有实际的应用价值。评委们非常看重作品能否真正解决问题，以及它未来的推广潜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部分是“作品呈现与答辩”，占15分。这部分包括文档规范、工程规范和答辩表现。一份规范的文档、清晰的工程实现以及出色的答辩表现，都是加分项。大家在准备作品时，一定要注意这些细节，确保在最后环节给评委留下好印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需要特别提醒大家注意几个否决指标。这些是大赛的红线，包括选题存在政治问题、内容抄袭或伪造、版权侵权等。请大家务必确保自己的作品严格遵守相关规定，避免出现这些问题，否则作品将直接被淘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参赛类别和选题建议。大赛分为自选命题和企业命题两类。大家可以根据自己的情况选择。结合当前AI的热点，我们建议大家可以关注AI智能体、具身智能、以及AI在医疗、制造、教育等垂直行业的应用。这些方向既有技术创新性，也有实际应用价值，非常适合作为参赛选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的内容。核心就是要紧扣评审标准，突出作品的创新与价值，注重细节规范，并严格遵守大赛规定。希望大家都能抓住重点，发挥出自己的最佳水平。我们期待看到大家精彩的作品，预祝大家比赛顺利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的内容。核心就是要紧扣评审标准，突出作品的创新与价值，注重细节规范，并严格遵守大赛规定。希望大家都能抓住重点，发挥出自己的最佳水平。我们期待看到大家精彩的作品，预祝大家比赛顺利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的内容。核心就是要紧扣评审标准，突出作品的创新与价值，注重细节规范，并严格遵守大赛规定。希望大家都能抓住重点，发挥出自己的最佳水平。我们期待看到大家精彩的作品，预祝大家比赛顺利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的内容。核心就是要紧扣评审标准，突出作品的创新与价值，注重细节规范，并严格遵守大赛规定。希望大家都能抓住重点，发挥出自己的最佳水平。我们期待看到大家精彩的作品，预祝大家比赛顺利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的内容。核心就是要紧扣评审标准，突出作品的创新与价值，注重细节规范，并严格遵守大赛规定。希望大家都能抓住重点，发挥出自己的最佳水平。我们期待看到大家精彩的作品，预祝大家比赛顺利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我的解读到此结束，感谢大家的聆听！如果大家还有其他问题，可以随时交流。谢谢！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3.xml"/><Relationship Id="rId38" Type="http://schemas.openxmlformats.org/officeDocument/2006/relationships/notesSlide" Target="../notesSlides/notesSlide2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25.xml"/><Relationship Id="rId35" Type="http://schemas.openxmlformats.org/officeDocument/2006/relationships/tags" Target="../tags/tag24.xml"/><Relationship Id="rId34" Type="http://schemas.openxmlformats.org/officeDocument/2006/relationships/image" Target="../media/image16.svg"/><Relationship Id="rId33" Type="http://schemas.openxmlformats.org/officeDocument/2006/relationships/image" Target="../media/image15.png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tags" Target="../tags/tag21.xml"/><Relationship Id="rId3" Type="http://schemas.openxmlformats.org/officeDocument/2006/relationships/tags" Target="../tags/tag2.xml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image" Target="../media/image14.svg"/><Relationship Id="rId26" Type="http://schemas.openxmlformats.org/officeDocument/2006/relationships/image" Target="../media/image13.png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image" Target="../media/image12.svg"/><Relationship Id="rId2" Type="http://schemas.openxmlformats.org/officeDocument/2006/relationships/tags" Target="../tags/tag1.xml"/><Relationship Id="rId19" Type="http://schemas.openxmlformats.org/officeDocument/2006/relationships/image" Target="../media/image11.png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6.svg"/><Relationship Id="rId12" Type="http://schemas.openxmlformats.org/officeDocument/2006/relationships/image" Target="../media/image25.png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2.xml"/><Relationship Id="rId26" Type="http://schemas.openxmlformats.org/officeDocument/2006/relationships/tags" Target="../tags/tag41.xml"/><Relationship Id="rId25" Type="http://schemas.openxmlformats.org/officeDocument/2006/relationships/tags" Target="../tags/tag40.xml"/><Relationship Id="rId24" Type="http://schemas.openxmlformats.org/officeDocument/2006/relationships/image" Target="../media/image33.svg"/><Relationship Id="rId23" Type="http://schemas.openxmlformats.org/officeDocument/2006/relationships/image" Target="../media/image32.png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image" Target="../media/image27.png"/><Relationship Id="rId19" Type="http://schemas.openxmlformats.org/officeDocument/2006/relationships/tags" Target="../tags/tag36.xml"/><Relationship Id="rId18" Type="http://schemas.openxmlformats.org/officeDocument/2006/relationships/image" Target="../media/image31.svg"/><Relationship Id="rId17" Type="http://schemas.openxmlformats.org/officeDocument/2006/relationships/image" Target="../media/image30.png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image" Target="../media/image29.svg"/><Relationship Id="rId11" Type="http://schemas.openxmlformats.org/officeDocument/2006/relationships/image" Target="../media/image28.png"/><Relationship Id="rId10" Type="http://schemas.openxmlformats.org/officeDocument/2006/relationships/tags" Target="../tags/tag31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image" Target="../media/image35.svg"/><Relationship Id="rId11" Type="http://schemas.openxmlformats.org/officeDocument/2006/relationships/image" Target="../media/image34.png"/><Relationship Id="rId10" Type="http://schemas.openxmlformats.org/officeDocument/2006/relationships/tags" Target="../tags/tag48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tags" Target="../tags/tag53.xml"/><Relationship Id="rId24" Type="http://schemas.openxmlformats.org/officeDocument/2006/relationships/notesSlide" Target="../notesSlides/notesSlide6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66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openxmlformats.org/officeDocument/2006/relationships/tags" Target="../tags/tag52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image" Target="../media/image37.svg"/><Relationship Id="rId11" Type="http://schemas.openxmlformats.org/officeDocument/2006/relationships/image" Target="../media/image36.png"/><Relationship Id="rId10" Type="http://schemas.openxmlformats.org/officeDocument/2006/relationships/tags" Target="../tags/tag58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tags" Target="../tags/tag68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7.xml"/><Relationship Id="rId19" Type="http://schemas.openxmlformats.org/officeDocument/2006/relationships/image" Target="../media/image41.svg"/><Relationship Id="rId18" Type="http://schemas.openxmlformats.org/officeDocument/2006/relationships/image" Target="../media/image40.png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tags" Target="../tags/tag73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tags" Target="../tags/tag83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82.xml"/><Relationship Id="rId19" Type="http://schemas.openxmlformats.org/officeDocument/2006/relationships/tags" Target="../tags/tag93.xml"/><Relationship Id="rId18" Type="http://schemas.openxmlformats.org/officeDocument/2006/relationships/tags" Target="../tags/tag92.xml"/><Relationship Id="rId17" Type="http://schemas.openxmlformats.org/officeDocument/2006/relationships/image" Target="../media/image45.svg"/><Relationship Id="rId16" Type="http://schemas.openxmlformats.org/officeDocument/2006/relationships/image" Target="../media/image44.png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tags" Target="../tags/tag95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51.svg"/><Relationship Id="rId20" Type="http://schemas.openxmlformats.org/officeDocument/2006/relationships/image" Target="../media/image50.png"/><Relationship Id="rId2" Type="http://schemas.openxmlformats.org/officeDocument/2006/relationships/tags" Target="../tags/tag94.xml"/><Relationship Id="rId19" Type="http://schemas.openxmlformats.org/officeDocument/2006/relationships/tags" Target="../tags/tag105.xml"/><Relationship Id="rId18" Type="http://schemas.openxmlformats.org/officeDocument/2006/relationships/tags" Target="../tags/tag104.xml"/><Relationship Id="rId17" Type="http://schemas.openxmlformats.org/officeDocument/2006/relationships/image" Target="../media/image49.svg"/><Relationship Id="rId16" Type="http://schemas.openxmlformats.org/officeDocument/2006/relationships/image" Target="../media/image48.png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image" Target="../media/image47.svg"/><Relationship Id="rId10" Type="http://schemas.openxmlformats.org/officeDocument/2006/relationships/image" Target="../media/image46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7.svg"/><Relationship Id="rId10" Type="http://schemas.openxmlformats.org/officeDocument/2006/relationships/image" Target="../media/image56.pn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tags" Target="../tags/tag107.xml"/><Relationship Id="rId25" Type="http://schemas.openxmlformats.org/officeDocument/2006/relationships/notesSlide" Target="../notesSlides/notesSlide11.x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16.svg"/><Relationship Id="rId22" Type="http://schemas.openxmlformats.org/officeDocument/2006/relationships/image" Target="../media/image15.png"/><Relationship Id="rId21" Type="http://schemas.openxmlformats.org/officeDocument/2006/relationships/tags" Target="../tags/tag117.xml"/><Relationship Id="rId20" Type="http://schemas.openxmlformats.org/officeDocument/2006/relationships/image" Target="../media/image61.svg"/><Relationship Id="rId2" Type="http://schemas.openxmlformats.org/officeDocument/2006/relationships/tags" Target="../tags/tag106.xml"/><Relationship Id="rId19" Type="http://schemas.openxmlformats.org/officeDocument/2006/relationships/image" Target="../media/image60.png"/><Relationship Id="rId18" Type="http://schemas.openxmlformats.org/officeDocument/2006/relationships/tags" Target="../tags/tag11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image" Target="../media/image47.svg"/><Relationship Id="rId14" Type="http://schemas.openxmlformats.org/officeDocument/2006/relationships/image" Target="../media/image46.png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image" Target="../media/image59.sv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3" Type="http://schemas.openxmlformats.org/officeDocument/2006/relationships/tags" Target="../tags/tag119.xml"/><Relationship Id="rId20" Type="http://schemas.openxmlformats.org/officeDocument/2006/relationships/notesSlide" Target="../notesSlides/notesSlide12.xml"/><Relationship Id="rId2" Type="http://schemas.openxmlformats.org/officeDocument/2006/relationships/tags" Target="../tags/tag118.xml"/><Relationship Id="rId19" Type="http://schemas.openxmlformats.org/officeDocument/2006/relationships/slideLayout" Target="../slideLayouts/slideLayout13.xml"/><Relationship Id="rId18" Type="http://schemas.openxmlformats.org/officeDocument/2006/relationships/image" Target="../media/image69.png"/><Relationship Id="rId17" Type="http://schemas.openxmlformats.org/officeDocument/2006/relationships/image" Target="../media/image68.png"/><Relationship Id="rId16" Type="http://schemas.openxmlformats.org/officeDocument/2006/relationships/tags" Target="../tags/tag126.xml"/><Relationship Id="rId15" Type="http://schemas.openxmlformats.org/officeDocument/2006/relationships/image" Target="../media/image67.svg"/><Relationship Id="rId14" Type="http://schemas.openxmlformats.org/officeDocument/2006/relationships/image" Target="../media/image66.png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image" Target="../media/image65.sv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image" Target="../media/image70.svg"/><Relationship Id="rId4" Type="http://schemas.openxmlformats.org/officeDocument/2006/relationships/image" Target="../media/image62.png"/><Relationship Id="rId3" Type="http://schemas.openxmlformats.org/officeDocument/2006/relationships/tags" Target="../tags/tag128.xml"/><Relationship Id="rId21" Type="http://schemas.openxmlformats.org/officeDocument/2006/relationships/notesSlide" Target="../notesSlides/notesSlide13.xml"/><Relationship Id="rId20" Type="http://schemas.openxmlformats.org/officeDocument/2006/relationships/slideLayout" Target="../slideLayouts/slideLayout14.xml"/><Relationship Id="rId2" Type="http://schemas.openxmlformats.org/officeDocument/2006/relationships/tags" Target="../tags/tag127.xml"/><Relationship Id="rId19" Type="http://schemas.openxmlformats.org/officeDocument/2006/relationships/image" Target="../media/image74.png"/><Relationship Id="rId18" Type="http://schemas.openxmlformats.org/officeDocument/2006/relationships/image" Target="../media/image73.png"/><Relationship Id="rId17" Type="http://schemas.openxmlformats.org/officeDocument/2006/relationships/image" Target="../media/image68.png"/><Relationship Id="rId16" Type="http://schemas.openxmlformats.org/officeDocument/2006/relationships/tags" Target="../tags/tag135.xml"/><Relationship Id="rId15" Type="http://schemas.openxmlformats.org/officeDocument/2006/relationships/image" Target="../media/image72.svg"/><Relationship Id="rId14" Type="http://schemas.openxmlformats.org/officeDocument/2006/relationships/image" Target="../media/image66.png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image" Target="../media/image71.sv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image" Target="../media/image75.svg"/><Relationship Id="rId4" Type="http://schemas.openxmlformats.org/officeDocument/2006/relationships/image" Target="../media/image62.png"/><Relationship Id="rId3" Type="http://schemas.openxmlformats.org/officeDocument/2006/relationships/tags" Target="../tags/tag137.xml"/><Relationship Id="rId22" Type="http://schemas.openxmlformats.org/officeDocument/2006/relationships/notesSlide" Target="../notesSlides/notesSlide14.xml"/><Relationship Id="rId21" Type="http://schemas.openxmlformats.org/officeDocument/2006/relationships/slideLayout" Target="../slideLayouts/slideLayout15.xml"/><Relationship Id="rId20" Type="http://schemas.openxmlformats.org/officeDocument/2006/relationships/image" Target="../media/image80.png"/><Relationship Id="rId2" Type="http://schemas.openxmlformats.org/officeDocument/2006/relationships/tags" Target="../tags/tag136.xml"/><Relationship Id="rId19" Type="http://schemas.openxmlformats.org/officeDocument/2006/relationships/image" Target="../media/image79.png"/><Relationship Id="rId18" Type="http://schemas.openxmlformats.org/officeDocument/2006/relationships/image" Target="../media/image78.png"/><Relationship Id="rId17" Type="http://schemas.openxmlformats.org/officeDocument/2006/relationships/image" Target="../media/image68.png"/><Relationship Id="rId16" Type="http://schemas.openxmlformats.org/officeDocument/2006/relationships/tags" Target="../tags/tag144.xml"/><Relationship Id="rId15" Type="http://schemas.openxmlformats.org/officeDocument/2006/relationships/image" Target="../media/image77.svg"/><Relationship Id="rId14" Type="http://schemas.openxmlformats.org/officeDocument/2006/relationships/image" Target="../media/image66.png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image" Target="../media/image76.sv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image" Target="../media/image81.svg"/><Relationship Id="rId4" Type="http://schemas.openxmlformats.org/officeDocument/2006/relationships/image" Target="../media/image62.png"/><Relationship Id="rId3" Type="http://schemas.openxmlformats.org/officeDocument/2006/relationships/tags" Target="../tags/tag146.xml"/><Relationship Id="rId20" Type="http://schemas.openxmlformats.org/officeDocument/2006/relationships/notesSlide" Target="../notesSlides/notesSlide15.xml"/><Relationship Id="rId2" Type="http://schemas.openxmlformats.org/officeDocument/2006/relationships/tags" Target="../tags/tag145.xml"/><Relationship Id="rId19" Type="http://schemas.openxmlformats.org/officeDocument/2006/relationships/slideLayout" Target="../slideLayouts/slideLayout16.xml"/><Relationship Id="rId18" Type="http://schemas.openxmlformats.org/officeDocument/2006/relationships/image" Target="../media/image84.png"/><Relationship Id="rId17" Type="http://schemas.openxmlformats.org/officeDocument/2006/relationships/image" Target="../media/image68.png"/><Relationship Id="rId16" Type="http://schemas.openxmlformats.org/officeDocument/2006/relationships/tags" Target="../tags/tag153.xml"/><Relationship Id="rId15" Type="http://schemas.openxmlformats.org/officeDocument/2006/relationships/image" Target="../media/image83.svg"/><Relationship Id="rId14" Type="http://schemas.openxmlformats.org/officeDocument/2006/relationships/image" Target="../media/image66.png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image" Target="../media/image82.sv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0" y="190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第3届全国大学生数智链应用大赛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279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304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其他人工智能赛道解读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0" y="4826000"/>
            <a:ext cx="4572000" cy="508000"/>
          </a:xfrm>
          <a:prstGeom prst="roundRect">
            <a:avLst>
              <a:gd name="adj" fmla="val 500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0" y="482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刘慧君</a:t>
            </a:r>
            <a:r>
              <a:rPr lang="en-US" altLang="zh-CN" sz="2400" b="1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2400" b="1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重庆大学</a:t>
            </a:r>
            <a:endParaRPr lang="zh-CN" altLang="en-US" sz="2400" b="1" i="0" u="none" strike="noStrike">
              <a:solidFill>
                <a:srgbClr val="DCE6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5715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3970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16000" y="16129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8000" y="165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2286000" y="16129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大赛简介与赛道定位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5207000" y="16383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了解大赛背景，明确“其他人工智能应用”赛道的核心定位。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762000" y="23368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1016000" y="25527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78000" y="25908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2286000" y="25527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评审标准深度解析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5207000" y="25781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详细解读四大评审指标，掌握得分要点，提升作品竞争力。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762000" y="32766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1016000" y="34925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78000" y="3530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2286000" y="3492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参赛类别与选题建议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5207000" y="35179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分析不同参赛类别，并结合AI热点给出具有创新性的选题方向。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762000" y="42164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1016000" y="44323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778000" y="44704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8"/>
            </p:custDataLst>
          </p:nvPr>
        </p:nvSpPr>
        <p:spPr>
          <a:xfrm>
            <a:off x="2286000" y="44323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作品呈现与答辩技巧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9"/>
            </p:custDataLst>
          </p:nvPr>
        </p:nvSpPr>
        <p:spPr>
          <a:xfrm>
            <a:off x="5207000" y="44577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指导如何规范地呈现作品，掌握答辩环节的关键技巧与注意事项。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30"/>
            </p:custDataLst>
          </p:nvPr>
        </p:nvSpPr>
        <p:spPr>
          <a:xfrm>
            <a:off x="762000" y="51562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31"/>
            </p:custDataLst>
          </p:nvPr>
        </p:nvSpPr>
        <p:spPr>
          <a:xfrm>
            <a:off x="1016000" y="53721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778000" y="54102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35"/>
            </p:custDataLst>
          </p:nvPr>
        </p:nvSpPr>
        <p:spPr>
          <a:xfrm>
            <a:off x="2286000" y="53721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>
            <p:custDataLst>
              <p:tags r:id="rId36"/>
            </p:custDataLst>
          </p:nvPr>
        </p:nvSpPr>
        <p:spPr>
          <a:xfrm>
            <a:off x="5207000" y="5397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总结核心要点，预祝参赛成功，期待更多优秀AI应用诞生。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大赛简介与赛道定位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大赛简介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1844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大赛名称：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第3届全国大学生数智链应用大赛（曾用名：全国大学生“区块链+”应用大赛）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9464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大赛宗旨：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深化教育、科技、人才一体化改革，推动高校人工智能、区块链、数字艺术等数智链领域人才培养。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74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7084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参赛对象：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在校研究生、本科生及高职高专学生，专业不限，可跨校组队。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524000"/>
            <a:ext cx="5080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赛道定位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222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184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赛道名称：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其他人工智能应用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730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69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所属大类：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人工智能大类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3238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2004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具有高度的开放性和创新性，鼓励针对特定问题提出基于AI方法的创新性解决方案。无论是“自选命题”还是“企业命题”，旨在考察运用AI技术解决实际问题的能力。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评审标准总览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4064000" cy="3556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5334000" y="1524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1828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6032500" y="1651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作品选题与定位 (30%)</a:t>
            </a:r>
            <a:endParaRPr lang="en-US" sz="1800"/>
          </a:p>
          <a:p>
            <a:pPr indent="0" algn="l">
              <a:lnSpc>
                <a:spcPct val="125000"/>
              </a:lnSpc>
              <a:defRPr/>
            </a:pPr>
            <a:endParaRPr lang="en-US" sz="18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032500" y="2032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考察选题的新颖性、针对性和创新性，是否解决实际问题。</a:t>
            </a:r>
            <a:endParaRPr lang="en-US"/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5334000" y="2667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24500" y="2971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6032500" y="2794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 (35%)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6032500" y="317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评估技术方案的先进性、完整性以及实现的工作量与难度。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5334000" y="3810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24500" y="4114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6032500" y="393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功能效果与价值 (20%)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6032500" y="4318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衡量系统功能的完备性、运行效果的稳定性和实际应用价值。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5334000" y="4953000"/>
            <a:ext cx="609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FDBF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524500" y="52578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6032500" y="5080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作品呈现与答辩 (15%)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6"/>
            </p:custDataLst>
          </p:nvPr>
        </p:nvSpPr>
        <p:spPr>
          <a:xfrm>
            <a:off x="6032500" y="5461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关注文档的规范性、工程的规范性以及答辩时的逻辑与表现。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评审标准解析（一）：作品选题与定位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二级指标：选题主题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41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核心要求：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选题应鲜明突出、立意新颖、具有针对性。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3175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深度解读：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题目要清晰，让人一眼明白作品要解决的问题。需有新意，避免重复已有方案，且针对具体、真实存在的痛点。</a:t>
            </a:r>
            <a:endParaRPr lang="en-US" sz="16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350000" y="1651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190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71120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二级指标：选题定位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6604000" y="241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核心要求：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源于专业领域和社会生活，体现AI思想，在场景、方案或技术上具创新性。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6604000" y="3175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深度解读：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作品需落地，解决实际问题。体现AI核心思想，并在应用场景、技术路线或运营模式上展现创新点。</a:t>
            </a:r>
            <a:endParaRPr lang="en-US" sz="16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5397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关键点：选题需“清晰新颖有痛点，落地创新有AI”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评审标准解析（二）：技术方案与实现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一级指标：技术方案与实现 (权重占比 35%)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524000" y="215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技术先进性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16000" y="2667000"/>
            <a:ext cx="2842895" cy="1042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系统方案具备创新性，在算法设计、模型优化、区块链协同等方面有延展或突破。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016000" y="3873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考察技术方案是否有亮点，是否在现有技术基础上改进算法或巧妙结合不同技术。</a:t>
            </a:r>
            <a:endParaRPr lang="en-US" sz="16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445000" y="193675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207000" y="215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方案完整性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4699000" y="2667000"/>
            <a:ext cx="2964815" cy="783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架构设计合理，技术路线清晰，关键技术明确，逻辑闭环。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4699000" y="3709670"/>
            <a:ext cx="2910205" cy="1280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从整体架构到具体技术路线，再到关键技术实现，需完整阐述，清晰展现技术思路。</a:t>
            </a:r>
            <a:endParaRPr lang="en-US" sz="16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8128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2000" y="215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8890000" y="215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工作量与难度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8382000" y="266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整体工作量饱满，技术实现难度适中，体现扎实的专业基础与熟练的技术应用能力。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8382000" y="3719195"/>
            <a:ext cx="2983230" cy="11703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需有足够工作量支撑，难度适中，真实反映团队技术水平，避免过于简单或超出能力范围。</a:t>
            </a:r>
            <a:endParaRPr lang="en-US" sz="16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注：技术方案需兼顾创新性与可行性，确保落地性。</a:t>
            </a:r>
            <a:endParaRPr lang="en-US" sz="2000" b="1" i="0" u="none" strike="noStrike">
              <a:solidFill>
                <a:srgbClr val="FFFFFF">
                  <a:alpha val="5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评审标准解析（三）：功能效果与价值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752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功能完备性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286000"/>
            <a:ext cx="2921635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紧密围绕核心目标，任务明确，系统功能齐全或场景深度优化。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3413125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功能紧扣选题不偏离，追求全功能覆盖或在特定细分场景下做到极致优化。</a:t>
            </a:r>
            <a:endParaRPr lang="en-US" sz="1600" b="0" i="0" u="none" strike="noStrike">
              <a:solidFill>
                <a:srgbClr val="A0AEC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445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5207000" y="1752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运行效果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4699000" y="2286000"/>
            <a:ext cx="297688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测试充分，运行稳定可靠，界面人性化，适应性强，有效解决问题。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4699000" y="3492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需经过充分测试确保稳定性，界面友好易用，核心是真正解决目标场景问题。</a:t>
            </a:r>
            <a:endParaRPr lang="en-US" sz="1600" b="0" i="0" u="none" strike="noStrike">
              <a:solidFill>
                <a:srgbClr val="A0AEC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128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8890000" y="1752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8382000" y="228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已投入实际使用或具备明确推广前景，体现AI技术的实际价值。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430895" y="353568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作品需具备实际应用价值，有实际案例或清晰推广前景，产生社会或经济效益。</a:t>
            </a:r>
            <a:endParaRPr lang="en-US" sz="1600" b="0" i="0" u="none" strike="noStrike">
              <a:solidFill>
                <a:srgbClr val="A0AEC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核心关注：实际表现与落地价值</a:t>
            </a:r>
            <a:endParaRPr lang="en-US" sz="2000" b="1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评审标准解析（四）：作品呈现与答辩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文档规范度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28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设计文档完整，符合命名和格式规范；清晰阐述问题分析、架构设计、算法实现及测试过程。</a:t>
            </a:r>
            <a:endParaRPr lang="en-US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提交的文档需完整规范，内容清晰，准确反映作品的设计与实现全过程。</a:t>
            </a:r>
            <a:endParaRPr lang="en-US" sz="16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207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工程规范性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228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软件架构清晰，代码风格统一；硬件设计合理，选材、布线规范，无安全隐患。</a:t>
            </a:r>
            <a:endParaRPr lang="en-US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软硬件均需体现良好的工程规范，代码整洁，硬件设计安全可靠。</a:t>
            </a:r>
            <a:endParaRPr lang="en-US" sz="16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90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答辩表现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228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汇报逻辑清晰、展示完整；准确回答提问；团队分工合理，协作默契。</a:t>
            </a:r>
            <a:endParaRPr lang="en-US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解读：</a:t>
            </a:r>
            <a:r>
              <a:rPr lang="en-US" sz="16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自信流畅地展示作品，清晰回答问题，展现良好的团队协作能力与风貌。</a:t>
            </a:r>
            <a:endParaRPr lang="en-US" sz="16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注重细节规范，展现专业素养</a:t>
            </a:r>
            <a:endParaRPr lang="en-US" sz="1800" b="1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否决指标说明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选题规范红线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286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选题存在政治意识形态问题，违反宪法和法律法规，或不符合大赛精神，将被直接否决。</a:t>
            </a:r>
            <a:endParaRPr lang="en-US" sz="16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207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内容合规要求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2286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禁止地图使用不当、抄袭、伪造数据或使用非参赛时间段设计的作品；严禁包含其他大赛标识。</a:t>
            </a:r>
            <a:endParaRPr lang="en-US" sz="16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1524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90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版权归属声明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2286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作品必须拥有合法版权，严禁存在违反知识产权法等法律法规的侵权行为。</a:t>
            </a:r>
            <a:endParaRPr lang="en-US" sz="16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572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6000" y="4800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4699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重要提示：</a:t>
            </a:r>
            <a:r>
              <a:rPr lang="en-US" sz="15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请务必确保作品严格符合上述所有要求，任何违规行为都将导致作品直接被淘汰，避免因小失大。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参赛类别与选题建议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810000" cy="4064000"/>
          </a:xfrm>
          <a:prstGeom prst="roundRect">
            <a:avLst>
              <a:gd name="adj" fmla="val 3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参赛类别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235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自选命题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25908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针对特定问题提出基于AI的解决方案，自由度高，适合有明确想法的团队。</a:t>
            </a:r>
            <a:endParaRPr lang="en-US" sz="16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3782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企业命题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37338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基于组委会发布的行业应用命题设计，贴近实际需求，可获企业资源支持。</a:t>
            </a:r>
            <a:endParaRPr lang="en-US" sz="16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953000" y="1524000"/>
            <a:ext cx="635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207000" y="1714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选题建议（2026 AI热点）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2747645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551805" y="2724785"/>
            <a:ext cx="546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具身智能与机器人：</a:t>
            </a:r>
            <a:r>
              <a:rPr lang="en-US" sz="18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探索AI在机器人领域的应用，如工业巡检、服务机器人等。</a:t>
            </a:r>
            <a:endParaRPr lang="en-US" sz="18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07000" y="34798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588000" y="3429000"/>
            <a:ext cx="546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AI+垂直行业：</a:t>
            </a:r>
            <a:r>
              <a:rPr lang="en-US" sz="18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医疗（辅助诊断/药物研发）、制造（智能制造/质检）、教育（个性化学习）。</a:t>
            </a:r>
            <a:endParaRPr lang="en-US" sz="18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07000" y="44958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588000" y="4495800"/>
            <a:ext cx="546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多模态与生成式AI：</a:t>
            </a:r>
            <a:r>
              <a:rPr lang="en-US" sz="18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结合文本、图像、音频等多种信息的生成与理解应用。</a:t>
            </a:r>
            <a:endParaRPr lang="en-US" sz="18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案例</a:t>
            </a: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分享</a:t>
            </a:r>
            <a:endParaRPr lang="zh-CN" altLang="en-US" sz="3600" b="1" i="0" u="none" strike="noStrike">
              <a:solidFill>
                <a:srgbClr val="00B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核心要点总结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146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460500" y="1968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紧扣评审标准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围绕选题、技术、功能、呈现四大指标进行设计准备。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2921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3162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460500" y="2984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突出创新与价值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选题新颖，技术先进，功能实用，价值明确。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762000" y="3937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500" y="4178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460500" y="4000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注重细节规范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确保文档、代码规范，答辩准备充分。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762000" y="4953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2500" y="5194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1460500" y="5016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规避否决红线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严格遵守大赛规定，避免版权、内容等问题。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50000" y="1905000"/>
            <a:ext cx="4826000" cy="3937000"/>
          </a:xfrm>
          <a:prstGeom prst="roundRect">
            <a:avLst>
              <a:gd name="adj" fmla="val 3225"/>
            </a:avLst>
          </a:prstGeom>
          <a:solidFill>
            <a:srgbClr val="00BFFF">
              <a:alpha val="1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04000" y="2159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2133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2667000"/>
            <a:ext cx="431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希望各位同学能够充分发挥自己的创新能力和技术实力，积极参与到大赛中来。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相信通过这次比赛，大家不仅能提升自己的专业技能，还能收获宝贵的实践经验。</a:t>
            </a:r>
            <a:endParaRPr lang="en-US" sz="15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预祝大家在比赛中取得优异成绩！</a:t>
            </a:r>
            <a:endParaRPr lang="en-US" sz="1500" b="0" i="0" u="none" strike="noStrike">
              <a:solidFill>
                <a:srgbClr val="E6E6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94005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案例</a:t>
            </a: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分享</a:t>
            </a:r>
            <a:endParaRPr lang="zh-CN" altLang="en-US" sz="3600" b="1" i="0" u="none" strike="noStrike">
              <a:solidFill>
                <a:srgbClr val="00B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884555" y="2411730"/>
            <a:ext cx="8725535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055" y="265303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583055" y="2475230"/>
            <a:ext cx="601662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精准锚定临床核心痛点，需求导向性极强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聚焦脑血管疾病诊疗的核心环节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脑血管评估</a:t>
            </a:r>
            <a:endParaRPr lang="zh-CN" alt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84555" y="3427730"/>
            <a:ext cx="8725535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5055" y="366903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583055" y="3491230"/>
            <a:ext cx="770128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填补市场技术空白，定位差异化显著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一体化脑血管三维评估及可视化智能系统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884555" y="4443730"/>
            <a:ext cx="872617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5055" y="468503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583055" y="4507230"/>
            <a:ext cx="79514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贴合赛事方向，符合技术发展趋势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紧扣人工智能在医学影像领域的应用趋势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2005" y="1243965"/>
            <a:ext cx="5886450" cy="40957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02005" y="186404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作品选题与定位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4520" y="929005"/>
            <a:ext cx="9077325" cy="5153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94005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案例</a:t>
            </a: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分享</a:t>
            </a:r>
            <a:endParaRPr lang="zh-CN" altLang="en-US" sz="3600" b="1" i="0" u="none" strike="noStrike">
              <a:solidFill>
                <a:srgbClr val="00B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884555" y="2411730"/>
            <a:ext cx="8725535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055" y="265303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583055" y="2475230"/>
            <a:ext cx="601662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提出多尺度特征融合分割算法，实现高精度血管分割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首次将动态捕捉细节思想和拓扑模型思想引入脑血管分割任务</a:t>
            </a:r>
            <a:endParaRPr lang="zh-CN" alt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84555" y="3427730"/>
            <a:ext cx="8725535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5055" y="366903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583055" y="3491230"/>
            <a:ext cx="770128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设计风格一致的拓扑损失函数，保障血管结构完整性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创新引入多视角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MIP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投影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持久同调的拓扑损失函数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884555" y="4443730"/>
            <a:ext cx="872617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5055" y="468503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583055" y="4507230"/>
            <a:ext cx="79514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结合形态学与国际标准，实现自动化狭窄量化评估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设计形态学脑血管评估算法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2005" y="1243965"/>
            <a:ext cx="5886450" cy="40957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02005" y="186404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技术方案与实现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735" y="1066800"/>
            <a:ext cx="9267825" cy="51149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3735" y="1115060"/>
            <a:ext cx="9502140" cy="506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94005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案例</a:t>
            </a: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分享</a:t>
            </a:r>
            <a:endParaRPr lang="zh-CN" altLang="en-US" sz="3600" b="1" i="0" u="none" strike="noStrike">
              <a:solidFill>
                <a:srgbClr val="00B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884555" y="2411730"/>
            <a:ext cx="8725535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055" y="265303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583055" y="2475230"/>
            <a:ext cx="674878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功能完整且贴合临床流程，操作高效便捷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系统覆盖医生登录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影像上传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自动分割评估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三维可视化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报告生成与导出全诊疗流程</a:t>
            </a:r>
            <a:endParaRPr lang="zh-CN" alt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84555" y="3427730"/>
            <a:ext cx="8725535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5055" y="366903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583055" y="3491230"/>
            <a:ext cx="770128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可视化效果直观，提升诊断效率与准确性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实现脑血管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模型可视化与</a:t>
            </a:r>
            <a:r>
              <a:rPr lang="en-US" altLang="zh-CN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MIP </a:t>
            </a: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投影评估结合</a:t>
            </a:r>
            <a:endParaRPr lang="zh-CN" alt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884555" y="4443730"/>
            <a:ext cx="872617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5055" y="468503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583055" y="4507230"/>
            <a:ext cx="79514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具备多重应用价值，社会与临床价值突出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为基层医院提供智能化辅助工具、助力脑血管疾病早筛早诊，降低疾病危害</a:t>
            </a:r>
            <a:endParaRPr lang="zh-CN" alt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2005" y="1243965"/>
            <a:ext cx="5886450" cy="40957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02005" y="186404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功能效果与价值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3520" y="1076960"/>
            <a:ext cx="8753475" cy="45815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07540" y="1076960"/>
            <a:ext cx="8462645" cy="464121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48655" y="835660"/>
            <a:ext cx="5419725" cy="5381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94005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案例</a:t>
            </a:r>
            <a:r>
              <a:rPr lang="zh-CN" altLang="en-US" sz="36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分享</a:t>
            </a:r>
            <a:endParaRPr lang="zh-CN" altLang="en-US" sz="3600" b="1" i="0" u="none" strike="noStrike">
              <a:solidFill>
                <a:srgbClr val="00B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884555" y="2411730"/>
            <a:ext cx="8725535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055" y="265303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583055" y="2475230"/>
            <a:ext cx="674878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文档撰写规范，逻辑清晰且内容完整</a:t>
            </a:r>
            <a:endParaRPr lang="en-US" sz="1100"/>
          </a:p>
          <a:p>
            <a:pPr indent="0" algn="l">
              <a:lnSpc>
                <a:spcPct val="125000"/>
              </a:lnSpc>
            </a:pPr>
            <a:endParaRPr lang="zh-CN" alt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84555" y="3427730"/>
            <a:ext cx="8725535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5055" y="366903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583055" y="3491230"/>
            <a:ext cx="770128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界面设计人性化，兼顾美观性与工具性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884555" y="4443730"/>
            <a:ext cx="872617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5055" y="468503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583055" y="4507230"/>
            <a:ext cx="795147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项目成果展示维度丰富，答辩亮点突出</a:t>
            </a:r>
            <a:endParaRPr lang="en-US" sz="1100"/>
          </a:p>
          <a:p>
            <a:pPr indent="0" algn="l">
              <a:lnSpc>
                <a:spcPct val="125000"/>
              </a:lnSpc>
            </a:pPr>
            <a:endParaRPr lang="zh-CN" alt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2005" y="1243965"/>
            <a:ext cx="5886450" cy="40957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02005" y="1864043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作品呈现与答辩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9290" y="1092835"/>
            <a:ext cx="10144125" cy="525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270000"/>
            <a:ext cx="10922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857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00B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CDCDC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欢迎提问与交流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2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3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4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5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6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7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8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9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0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1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2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3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4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5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6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7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8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19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20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21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22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23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24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25.xml><?xml version="1.0" encoding="utf-8"?>
<p:tagLst xmlns:p="http://schemas.openxmlformats.org/presentationml/2006/main">
  <p:tag name="KSO_WM_DIAGRAM_VIRTUALLY_FRAME" val="{&quot;height&quot;:360,&quot;left&quot;:60,&quot;top&quot;:110,&quot;width&quot;:840}"/>
</p:tagLst>
</file>

<file path=ppt/tags/tag26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27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28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29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0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1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2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3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4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5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6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7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8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39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40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41.xml><?xml version="1.0" encoding="utf-8"?>
<p:tagLst xmlns:p="http://schemas.openxmlformats.org/presentationml/2006/main">
  <p:tag name="KSO_WM_DIAGRAM_VIRTUALLY_FRAME" val="{&quot;height&quot;:350,&quot;left&quot;:420,&quot;top&quot;:120,&quot;width&quot;:480}"/>
</p:tagLst>
</file>

<file path=ppt/tags/tag42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43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44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45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46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47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48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49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50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51.xml><?xml version="1.0" encoding="utf-8"?>
<p:tagLst xmlns:p="http://schemas.openxmlformats.org/presentationml/2006/main">
  <p:tag name="KSO_WM_DIAGRAM_VIRTUALLY_FRAME" val="{&quot;height&quot;:260,&quot;left&quot;:60,&quot;top&quot;:130,&quot;width&quot;:840}"/>
</p:tagLst>
</file>

<file path=ppt/tags/tag52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53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54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55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56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57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58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59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60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61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62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63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64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65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66.xml><?xml version="1.0" encoding="utf-8"?>
<p:tagLst xmlns:p="http://schemas.openxmlformats.org/presentationml/2006/main">
  <p:tag name="KSO_WM_DIAGRAM_VIRTUALLY_FRAME" val="{&quot;height&quot;:262.5,&quot;left&quot;:60,&quot;top&quot;:150,&quot;width&quot;:840.2}"/>
</p:tagLst>
</file>

<file path=ppt/tags/tag67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68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69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0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1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2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3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4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5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6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7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8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79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0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1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2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3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4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5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6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7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8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89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90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91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92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93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94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95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96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97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98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99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100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101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102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103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104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105.xml><?xml version="1.0" encoding="utf-8"?>
<p:tagLst xmlns:p="http://schemas.openxmlformats.org/presentationml/2006/main">
  <p:tag name="KSO_WM_DIAGRAM_VIRTUALLY_FRAME" val="{&quot;height&quot;:200,&quot;left&quot;:60,&quot;top&quot;:120,&quot;width&quot;:840}"/>
</p:tagLst>
</file>

<file path=ppt/tags/tag106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07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08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09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0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1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2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3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4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5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6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7.xml><?xml version="1.0" encoding="utf-8"?>
<p:tagLst xmlns:p="http://schemas.openxmlformats.org/presentationml/2006/main">
  <p:tag name="KSO_WM_DIAGRAM_VIRTUALLY_FRAME" val="{&quot;height&quot;:310,&quot;left&quot;:60,&quot;top&quot;:150,&quot;width&quot;:400}"/>
</p:tagLst>
</file>

<file path=ppt/tags/tag118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19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0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1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2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3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4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5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6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7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8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29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0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1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2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3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4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5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6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7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8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39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0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1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2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3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4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5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6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7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8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49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50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51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52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ags/tag153.xml><?xml version="1.0" encoding="utf-8"?>
<p:tagLst xmlns:p="http://schemas.openxmlformats.org/presentationml/2006/main">
  <p:tag name="KSO_WM_DIAGRAM_VIRTUALLY_FRAME" val="{&quot;height&quot;:310,&quot;left&quot;:69.65,&quot;top&quot;:189.9,&quot;width&quot;:7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2817</Words>
  <Application>WPS 演示</Application>
  <PresentationFormat/>
  <Paragraphs>277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Poppins</vt:lpstr>
      <vt:lpstr>微软雅黑</vt:lpstr>
      <vt:lpstr>Arial Unicode MS</vt:lpstr>
      <vt:lpstr>Poppins</vt:lpstr>
      <vt:lpstr>A new day begins</vt:lpstr>
      <vt:lpstr>Office 主题​​</vt:lpstr>
      <vt:lpstr>默认主题</vt:lpstr>
      <vt:lpstr>2_默认主题</vt:lpstr>
      <vt:lpstr>4_默认主题</vt:lpstr>
      <vt:lpstr>1_默认主题</vt:lpstr>
      <vt:lpstr>3_默认主题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29044</cp:lastModifiedBy>
  <cp:revision>4</cp:revision>
  <dcterms:created xsi:type="dcterms:W3CDTF">2026-03-14T14:33:00Z</dcterms:created>
  <dcterms:modified xsi:type="dcterms:W3CDTF">2026-03-21T03:10:41Z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9A5F0C9436BA4E37AC0FED2A21637427_13</vt:lpwstr>
  </property>
</Properties>
</file>